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68" r:id="rId2"/>
    <p:sldId id="257" r:id="rId3"/>
    <p:sldId id="272" r:id="rId4"/>
    <p:sldId id="274" r:id="rId5"/>
    <p:sldId id="273" r:id="rId6"/>
    <p:sldId id="275" r:id="rId7"/>
    <p:sldId id="276" r:id="rId8"/>
    <p:sldId id="277" r:id="rId9"/>
    <p:sldId id="278" r:id="rId1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nda, Michael Patrick" initials="GMP" lastIdx="11" clrIdx="0">
    <p:extLst>
      <p:ext uri="{19B8F6BF-5375-455C-9EA6-DF929625EA0E}">
        <p15:presenceInfo xmlns:p15="http://schemas.microsoft.com/office/powerpoint/2012/main" userId="S-1-5-21-1085031214-1292428093-527237240-12286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4693" autoAdjust="0"/>
  </p:normalViewPr>
  <p:slideViewPr>
    <p:cSldViewPr>
      <p:cViewPr varScale="1">
        <p:scale>
          <a:sx n="67" d="100"/>
          <a:sy n="67" d="100"/>
        </p:scale>
        <p:origin x="170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2502" y="5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8T02:26:10.0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24535,'0'1357'0,"8724"-1357"0,-8724-1357 0,-8724 1357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8T02:26:11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8T02:26:31.2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4A310-C49A-4521-96C0-93D3ADC6649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C18DF-3E24-4DA1-B8B1-0F6AD8A0B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6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2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DB092A-5C6A-459A-8F66-4666AFD0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273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40471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63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98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74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99396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479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668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089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0661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88" y="249238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698627"/>
            <a:ext cx="7772400" cy="4835525"/>
          </a:xfrm>
        </p:spPr>
        <p:txBody>
          <a:bodyPr/>
          <a:lstStyle>
            <a:lvl1pPr>
              <a:defRPr b="0">
                <a:latin typeface="Tw Cen MT" pitchFamily="34" charset="0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0770059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3528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5DD1308-87A3-4A5F-A1F8-B2FC1CD1B253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24AC5D7-6AB7-4DB7-B4D7-204112966A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971800" y="0"/>
            <a:ext cx="617220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7548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26C382D-734F-4D61-84B3-4A4C95827FB7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24AC5D7-6AB7-4DB7-B4D7-204112966AD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2971800" y="0"/>
            <a:ext cx="6172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27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13AF04-A803-47B3-BF73-8842129B9130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24AC5D7-6AB7-4DB7-B4D7-204112966AD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971800" y="0"/>
            <a:ext cx="617220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066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04800" y="6477000"/>
            <a:ext cx="2057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Ins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9pPr>
          </a:lstStyle>
          <a:p>
            <a:pPr algn="l"/>
            <a:endParaRPr lang="en-US" sz="750" b="1" dirty="0">
              <a:solidFill>
                <a:srgbClr val="FFFFFF"/>
              </a:solidFill>
              <a:latin typeface="Futura Md BT" charset="0"/>
            </a:endParaRPr>
          </a:p>
          <a:p>
            <a:pPr algn="l"/>
            <a:r>
              <a:rPr lang="en-US" sz="750" b="1" baseline="0" dirty="0">
                <a:solidFill>
                  <a:srgbClr val="FFFFFF"/>
                </a:solidFill>
                <a:latin typeface="Futura Md BT" charset="0"/>
              </a:rPr>
              <a:t>Computer Science</a:t>
            </a:r>
            <a:r>
              <a:rPr lang="en-US" sz="750" b="1" dirty="0">
                <a:solidFill>
                  <a:srgbClr val="FFFFFF"/>
                </a:solidFill>
                <a:latin typeface="Futura Md BT" charset="0"/>
              </a:rPr>
              <a:t>	</a:t>
            </a:r>
          </a:p>
        </p:txBody>
      </p:sp>
      <p:pic>
        <p:nvPicPr>
          <p:cNvPr id="8" name="Picture 3" descr="Monogram-2">
            <a:extLst>
              <a:ext uri="{FF2B5EF4-FFF2-40B4-BE49-F238E27FC236}">
                <a16:creationId xmlns:a16="http://schemas.microsoft.com/office/drawing/2014/main" id="{5D4CD9C9-9A99-47F6-8165-2BF31A1BB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29601" y="0"/>
            <a:ext cx="930111" cy="9144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12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1" r:id="rId14"/>
    <p:sldLayoutId id="2147483655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FFFFFF"/>
          </a:solidFill>
          <a:latin typeface="Futura Md BT" charset="0"/>
          <a:ea typeface="ＭＳ Ｐゴシック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533400" y="2438399"/>
            <a:ext cx="8153400" cy="2133601"/>
          </a:xfrm>
        </p:spPr>
        <p:txBody>
          <a:bodyPr>
            <a:normAutofit/>
          </a:bodyPr>
          <a:lstStyle/>
          <a:p>
            <a:r>
              <a:rPr lang="en-US" sz="5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Form in Django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r"/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Dr. Waheed Anwar</a:t>
            </a:r>
          </a:p>
        </p:txBody>
      </p:sp>
    </p:spTree>
    <p:extLst>
      <p:ext uri="{BB962C8B-B14F-4D97-AF65-F5344CB8AC3E}">
        <p14:creationId xmlns:p14="http://schemas.microsoft.com/office/powerpoint/2010/main" val="164366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2D765763-51A4-49E5-B807-84205E277871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421105" y="1066800"/>
            <a:ext cx="8229600" cy="49530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Forms are used for taking input from the user in some manner and using that information for logical operations on databases. For example, Registering a user by taking input such as his name, email, password, etc.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Django maps the fields defined in Django forms into HTML input fields. Django handles three distinct parts of the work involved in forms:</a:t>
            </a:r>
          </a:p>
          <a:p>
            <a:pPr marL="757238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3000" dirty="0"/>
              <a:t>Preparing and restructuring data to make it ready for rendering.</a:t>
            </a:r>
          </a:p>
          <a:p>
            <a:pPr marL="757238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3000" dirty="0"/>
              <a:t>Creating HTML forms for the data.</a:t>
            </a:r>
          </a:p>
          <a:p>
            <a:pPr marL="757238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3000" dirty="0"/>
              <a:t>Receiving and processing submitted forms and data from the client.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00DB6D6-9835-0497-98F5-289F9552D8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Forms in Django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EC96-4289-F3DF-8D9B-491A63D8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EDA87813-C0BA-6D95-FDC5-B66FBFEB377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Forms in Django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F5D1E-3D01-2459-B3E1-CEA6BBC34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97578"/>
            <a:ext cx="8686800" cy="323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 all types of work done by forms in Django can be done with advanced HTML 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 However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 Django makes it easier and efficient especially the validation part. Once you get hold of forms in Django you will just forget about HTML forms.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Syntax :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Django Fields work like Django Model Fields and have the syntax: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field_name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forms.</a:t>
            </a: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rgbClr val="357960"/>
                </a:solidFill>
                <a:effectLst/>
                <a:latin typeface="Consolas" panose="020B0609020204030204" pitchFamily="49" charset="0"/>
              </a:rPr>
              <a:t>FieldType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(**options)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Example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3352FA-495E-2AC9-BB60-676764C85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238250"/>
            <a:ext cx="7848600" cy="2382191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from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django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import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3D7B7B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creating a form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class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Insert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title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CharField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description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CharField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72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E32F-FE9A-3311-30A5-0DC141FA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8F9EBFC4-7062-EE70-6B6C-322BFA35F26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Creating Forms in Django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A7EDA2-5611-DFFD-5056-B681E88C7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93" y="4179782"/>
            <a:ext cx="8438212" cy="224417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from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import forms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FormName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forms.Form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each field would be mapped as an input field in HTML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field_name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forms.Field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(**options)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56A88D-B952-646A-1E8C-F5C24200E371}"/>
              </a:ext>
            </a:extLst>
          </p:cNvPr>
          <p:cNvSpPr txBox="1"/>
          <p:nvPr/>
        </p:nvSpPr>
        <p:spPr>
          <a:xfrm>
            <a:off x="152400" y="914400"/>
            <a:ext cx="883919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Creating a form in Django is completely similar to creating a model, one needs to specify what fields would exist in the form and of what type. For example, to input, a registration form one might need First Name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CharField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), Roll Number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IntegerField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), and so on. 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Syntax: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897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30D14D-B0CF-858C-70BB-979CF678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Form code in forms.py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AB972-FF22-023F-09E6-C9C5EA02DE4C}"/>
              </a:ext>
            </a:extLst>
          </p:cNvPr>
          <p:cNvSpPr txBox="1"/>
          <p:nvPr/>
        </p:nvSpPr>
        <p:spPr>
          <a:xfrm>
            <a:off x="304800" y="1524000"/>
            <a:ext cx="853440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+mn-lt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django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+mn-lt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 forms</a:t>
            </a:r>
          </a:p>
          <a:p>
            <a:pPr algn="l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+mn-lt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InsertForm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forms.Form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):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product_name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forms.CharField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max_length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sz="1800" b="0" dirty="0">
                <a:solidFill>
                  <a:srgbClr val="098658"/>
                </a:solidFill>
                <a:effectLst/>
                <a:latin typeface="+mn-lt"/>
              </a:rPr>
              <a:t>200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 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	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widget=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forms.TextInput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attrs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={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'class'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'form-control'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'name'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+mn-lt"/>
              </a:rPr>
              <a:t>p_name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}))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product_company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forms.CharField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max_length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sz="1800" b="0" dirty="0">
                <a:solidFill>
                  <a:srgbClr val="098658"/>
                </a:solidFill>
                <a:effectLst/>
                <a:latin typeface="+mn-lt"/>
              </a:rPr>
              <a:t>200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 	widget=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forms.TextInput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attrs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={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'class'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'form-control'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'name'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+mn-lt"/>
              </a:rPr>
              <a:t>p_company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}))</a:t>
            </a:r>
          </a:p>
          <a:p>
            <a:pPr algn="l"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product_price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b="0" dirty="0" err="1">
                <a:solidFill>
                  <a:srgbClr val="000000"/>
                </a:solidFill>
                <a:effectLst/>
                <a:latin typeface="+mn-lt"/>
              </a:rPr>
              <a:t>forms.CharField</a:t>
            </a:r>
            <a:r>
              <a:rPr lang="en-US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max_length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</a:t>
            </a:r>
            <a:r>
              <a:rPr lang="en-US" sz="1800" b="0" dirty="0">
                <a:solidFill>
                  <a:srgbClr val="098658"/>
                </a:solidFill>
                <a:effectLst/>
                <a:latin typeface="+mn-lt"/>
              </a:rPr>
              <a:t>200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 	widget=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forms.TextInput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+mn-lt"/>
              </a:rPr>
              <a:t>attrs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={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'class'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'form-control'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,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'name'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: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+mn-lt"/>
              </a:rPr>
              <a:t>p_price</a:t>
            </a:r>
            <a:r>
              <a:rPr lang="en-US" sz="1800" b="0" dirty="0">
                <a:solidFill>
                  <a:srgbClr val="A31515"/>
                </a:solidFill>
                <a:effectLst/>
                <a:latin typeface="+mn-lt"/>
              </a:rPr>
              <a:t>'</a:t>
            </a:r>
            <a:r>
              <a:rPr lang="en-US" sz="1800" b="0" dirty="0">
                <a:solidFill>
                  <a:srgbClr val="000000"/>
                </a:solidFill>
                <a:effectLst/>
                <a:latin typeface="+mn-lt"/>
              </a:rPr>
              <a:t>}))</a:t>
            </a:r>
            <a:endParaRPr lang="en-US" b="0" dirty="0">
              <a:solidFill>
                <a:srgbClr val="0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661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C2C984-3966-9C0A-1553-8A1B65F80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Django form fields have several built-in methods to ease the work of the developer but sometimes one needs to implement things manually for customizing User Interface(UI). A form comes with 3 in-built methods that can be used to render Django form fields.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{{ </a:t>
            </a:r>
            <a:r>
              <a:rPr lang="en-US" sz="2400" b="0" i="0" u="sng" dirty="0" err="1">
                <a:solidFill>
                  <a:srgbClr val="357960"/>
                </a:solidFill>
                <a:effectLst/>
                <a:latin typeface="Nunito" pitchFamily="2" charset="0"/>
              </a:rPr>
              <a:t>form.as_table</a:t>
            </a: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 }}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will render them as table cells wrapped in &lt;tr&gt; tags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{{ </a:t>
            </a:r>
            <a:r>
              <a:rPr lang="en-US" sz="2400" b="0" i="0" u="sng" dirty="0" err="1">
                <a:solidFill>
                  <a:srgbClr val="357960"/>
                </a:solidFill>
                <a:effectLst/>
                <a:latin typeface="Nunito" pitchFamily="2" charset="0"/>
              </a:rPr>
              <a:t>form.as_p</a:t>
            </a: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 }}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will render them wrapped in &lt;p&gt; tags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{{ </a:t>
            </a:r>
            <a:r>
              <a:rPr lang="en-US" sz="2400" b="0" i="0" u="sng" dirty="0" err="1">
                <a:solidFill>
                  <a:srgbClr val="357960"/>
                </a:solidFill>
                <a:effectLst/>
                <a:latin typeface="Nunito" pitchFamily="2" charset="0"/>
              </a:rPr>
              <a:t>form.as_ul</a:t>
            </a:r>
            <a:r>
              <a:rPr lang="en-US" sz="2400" b="0" i="0" u="sng" dirty="0">
                <a:solidFill>
                  <a:srgbClr val="357960"/>
                </a:solidFill>
                <a:effectLst/>
                <a:latin typeface="Nunito" pitchFamily="2" charset="0"/>
              </a:rPr>
              <a:t> }}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will render them wrapped in &lt;li&gt; tags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4FB354-21EB-4B18-3EFA-B32A0530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Rener Django Forms</a:t>
            </a:r>
          </a:p>
        </p:txBody>
      </p:sp>
    </p:spTree>
    <p:extLst>
      <p:ext uri="{BB962C8B-B14F-4D97-AF65-F5344CB8AC3E}">
        <p14:creationId xmlns:p14="http://schemas.microsoft.com/office/powerpoint/2010/main" val="298698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720D96-08EF-6684-06A0-50122FA72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To render this form into a view, move to views.py and create a view </a:t>
            </a:r>
            <a:r>
              <a:rPr lang="en-US" sz="2800" dirty="0" err="1"/>
              <a:t>insertForm</a:t>
            </a:r>
            <a:r>
              <a:rPr lang="en-US" sz="2800" dirty="0"/>
              <a:t> as below.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48F6F1-8B0F-502F-935D-2DBF0C57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B4313-F3F5-CE00-7F2C-AEC342A7F593}"/>
              </a:ext>
            </a:extLst>
          </p:cNvPr>
          <p:cNvSpPr txBox="1"/>
          <p:nvPr/>
        </p:nvSpPr>
        <p:spPr>
          <a:xfrm>
            <a:off x="228600" y="2743200"/>
            <a:ext cx="8686800" cy="2249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rom . forms import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InsertForm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(request):</a:t>
            </a:r>
          </a:p>
          <a:p>
            <a:pPr algn="l"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request,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"insertForm.html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32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E7F104-5BD2-8542-C16E-3D4372856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4387"/>
            <a:ext cx="8229600" cy="914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view, we need to just create an instance of the form class created above in forms.py. Now let’s edit templates  insertForm.html </a:t>
            </a: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723FC1-C760-B998-1D2D-1CFC67B4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6ECA5-BE0A-F5BB-CAA7-97859AAFA565}"/>
              </a:ext>
            </a:extLst>
          </p:cNvPr>
          <p:cNvSpPr txBox="1"/>
          <p:nvPr/>
        </p:nvSpPr>
        <p:spPr>
          <a:xfrm>
            <a:off x="33728" y="1903751"/>
            <a:ext cx="9448800" cy="5348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"base.html"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%} {%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content %}</a:t>
            </a:r>
          </a:p>
          <a:p>
            <a:pPr algn="l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"d-flex justify-content-center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-primary"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-white w-75 p-3 rounded vh-100"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"text-primary"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 Record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"../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insertproduct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{%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csrf_token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%} </a:t>
            </a: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{{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form.as_table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pPr algn="l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"Add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Product"</a:t>
            </a:r>
            <a:r>
              <a:rPr lang="en-U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-success mt-2"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</a:p>
          <a:p>
            <a:pPr algn="l"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endblock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%}</a:t>
            </a:r>
          </a:p>
          <a:p>
            <a:pPr algn="l"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F6DC98D-72A0-A61E-7E9B-36397246A274}"/>
                  </a:ext>
                </a:extLst>
              </p14:cNvPr>
              <p14:cNvContentPartPr/>
              <p14:nvPr/>
            </p14:nvContentPartPr>
            <p14:xfrm>
              <a:off x="640745" y="4851282"/>
              <a:ext cx="3140992" cy="488854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F6DC98D-72A0-A61E-7E9B-36397246A2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745" y="4842282"/>
                <a:ext cx="3158632" cy="506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63B38F-441C-6275-192D-D83E0EB3A553}"/>
                  </a:ext>
                </a:extLst>
              </p14:cNvPr>
              <p14:cNvContentPartPr/>
              <p14:nvPr/>
            </p14:nvContentPartPr>
            <p14:xfrm>
              <a:off x="3687421" y="4871969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63B38F-441C-6275-192D-D83E0EB3A5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8781" y="486296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BB78DE5-B54A-2F78-8A48-29A382D91BDB}"/>
                  </a:ext>
                </a:extLst>
              </p14:cNvPr>
              <p14:cNvContentPartPr/>
              <p14:nvPr/>
            </p14:nvContentPartPr>
            <p14:xfrm>
              <a:off x="3717661" y="4856489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BB78DE5-B54A-2F78-8A48-29A382D91B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8661" y="484784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53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496ADD-16AA-250D-7110-11AD3866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B8119-BCF9-5BEC-448A-77F0CBEE6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29863"/>
              </p:ext>
            </p:extLst>
          </p:nvPr>
        </p:nvGraphicFramePr>
        <p:xfrm>
          <a:off x="876300" y="304800"/>
          <a:ext cx="7277100" cy="6497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269532371"/>
                    </a:ext>
                  </a:extLst>
                </a:gridCol>
                <a:gridCol w="2425700">
                  <a:extLst>
                    <a:ext uri="{9D8B030D-6E8A-4147-A177-3AD203B41FA5}">
                      <a16:colId xmlns:a16="http://schemas.microsoft.com/office/drawing/2014/main" val="4125987950"/>
                    </a:ext>
                  </a:extLst>
                </a:gridCol>
                <a:gridCol w="2425700">
                  <a:extLst>
                    <a:ext uri="{9D8B030D-6E8A-4147-A177-3AD203B41FA5}">
                      <a16:colId xmlns:a16="http://schemas.microsoft.com/office/drawing/2014/main" val="2168508393"/>
                    </a:ext>
                  </a:extLst>
                </a:gridCol>
              </a:tblGrid>
              <a:tr h="1658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Name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30" marR="8830" marT="22604" marB="226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22604" marB="226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HTML 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22604" marB="22604" anchor="ctr"/>
                </a:tc>
                <a:extLst>
                  <a:ext uri="{0D108BD9-81ED-4DB2-BD59-A6C34878D82A}">
                    <a16:rowId xmlns:a16="http://schemas.microsoft.com/office/drawing/2014/main" val="599766638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BooleanField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BooleanField(**kwargs)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CheckboxInput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222770833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CharField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CharField(**kwargs)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791827087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ChoiceField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ChoiceField(**kwargs)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Select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2298803233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TypedChoiceField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TypedChoiceField(**kwargs)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Select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251678923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DateField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DateField(**kwargs)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DateInput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958940618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DateTimeField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DateTimeField(**kwargs)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DateTimeInput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2154652146"/>
                  </a:ext>
                </a:extLst>
              </a:tr>
              <a:tr h="311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DecimalField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DecimalField(**kwargs)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NumberInput when Field.localize is False, else 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796988649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DurationField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DurationField(**kwargs)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380946524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EmailField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EmailField(**kwargs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EmailInput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081557399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FileField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FileField(**kwargs)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ClearableFileInput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875080801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FilePathField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FilePathField(**kwargs)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Select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228656739"/>
                  </a:ext>
                </a:extLst>
              </a:tr>
              <a:tr h="311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FloatField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FloatField(**kwargs)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NumberInput when Field.localize is False, else 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502165604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ImageField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ImageField(**kwargs)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ClearableFileInput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4273888670"/>
                  </a:ext>
                </a:extLst>
              </a:tr>
              <a:tr h="311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IntegerField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IntegerField(**kwargs)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NumberInput when Field.localize is False, else 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02722764"/>
                  </a:ext>
                </a:extLst>
              </a:tr>
              <a:tr h="3003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GenericIPAddressField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GenericIPAddressField(**kwargs)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2784341393"/>
                  </a:ext>
                </a:extLst>
              </a:tr>
              <a:tr h="3003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MultipleChoiceField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MultipleChoiceField(**kwargs)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SelectMultiple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584600096"/>
                  </a:ext>
                </a:extLst>
              </a:tr>
              <a:tr h="4215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TypedMultipleChoiceField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TypedMultipleChoiceField(**kwargs)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SelectMultiple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535432661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NullBooleanField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NullBooleanField(**kwargs)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NullBooleanSelect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869232620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RegexField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RegexField(**kwargs)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4137505547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SlugField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SlugField(**kwargs)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TextInput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926100290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TimeField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TimeField(**kwargs)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TimeInput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346758509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URLField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URLField(**kwargs)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URLInput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1582504494"/>
                  </a:ext>
                </a:extLst>
              </a:tr>
              <a:tr h="1841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u="sng" kern="100">
                          <a:effectLst/>
                        </a:rPr>
                        <a:t>UUIDField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>
                          <a:effectLst/>
                        </a:rPr>
                        <a:t>class UUIDField(**kwargs)</a:t>
                      </a:r>
                      <a:endParaRPr lang="en-US" sz="105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050" kern="100" dirty="0" err="1">
                          <a:effectLst/>
                        </a:rPr>
                        <a:t>TextInput</a:t>
                      </a:r>
                      <a:endParaRPr lang="en-US" sz="105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604" marR="22604" marT="31434" marB="31434" anchor="ctr"/>
                </a:tc>
                <a:extLst>
                  <a:ext uri="{0D108BD9-81ED-4DB2-BD59-A6C34878D82A}">
                    <a16:rowId xmlns:a16="http://schemas.microsoft.com/office/drawing/2014/main" val="391327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757572"/>
      </p:ext>
    </p:extLst>
  </p:cSld>
  <p:clrMapOvr>
    <a:masterClrMapping/>
  </p:clrMapOvr>
</p:sld>
</file>

<file path=ppt/theme/theme1.xml><?xml version="1.0" encoding="utf-8"?>
<a:theme xmlns:a="http://schemas.openxmlformats.org/drawingml/2006/main" name="My Slides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99CC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2DB9"/>
      </a:accent6>
      <a:hlink>
        <a:srgbClr val="CCCCFF"/>
      </a:hlink>
      <a:folHlink>
        <a:srgbClr val="B2B2B2"/>
      </a:folHlink>
    </a:clrScheme>
    <a:fontScheme name="Custom 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y Slides Theme" id="{48380237-64C1-430B-B9C6-871E268B3D7D}" vid="{AFFC6A94-AB7D-42EC-A401-EFDEC5F405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My Slides Theme</Template>
  <TotalTime>7413</TotalTime>
  <Words>896</Words>
  <Application>Microsoft Office PowerPoint</Application>
  <PresentationFormat>On-screen Show (4:3)</PresentationFormat>
  <Paragraphs>126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Consolas</vt:lpstr>
      <vt:lpstr>Futura Md BT</vt:lpstr>
      <vt:lpstr>Nunito</vt:lpstr>
      <vt:lpstr>Times New Roman</vt:lpstr>
      <vt:lpstr>Tw Cen MT</vt:lpstr>
      <vt:lpstr>My Slides Theme</vt:lpstr>
      <vt:lpstr>PowerPoint Presentation</vt:lpstr>
      <vt:lpstr>Forms in Django</vt:lpstr>
      <vt:lpstr>Forms in Django</vt:lpstr>
      <vt:lpstr>Creating Forms in Django</vt:lpstr>
      <vt:lpstr>Form code in forms.py File</vt:lpstr>
      <vt:lpstr>Rener Django Forms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Waheed Anwar</dc:creator>
  <cp:lastModifiedBy>SAEEDCOMPUTERS</cp:lastModifiedBy>
  <cp:revision>42</cp:revision>
  <dcterms:created xsi:type="dcterms:W3CDTF">2011-11-01T17:37:57Z</dcterms:created>
  <dcterms:modified xsi:type="dcterms:W3CDTF">2026-03-03T09:43:28Z</dcterms:modified>
</cp:coreProperties>
</file>